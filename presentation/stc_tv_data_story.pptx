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0E0E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0E0EF"/>
                </a:solidFill>
                <a:latin typeface="Arial"/>
              </a:rPr>
              <a:t>ساعات المشاهدة الإجمالية (ألف ساعة)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ساعات المشاهدة (ألف)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المسلسلات</c:v>
                  </c:pt>
                  <c:pt idx="1">
                    <c:v>الأفلام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255</c:v>
                </c:pt>
                <c:pt idx="1">
                  <c:v>103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020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ساعات المشاهدة</c:v>
                </c:pt>
              </c:strCache>
            </c:strRef>
          </c:tx>
          <c:spPr>
            <a:solidFill>
              <a:srgbClr val="0096B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96B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The Boss Baby</c:v>
                  </c:pt>
                  <c:pt idx="1">
                    <c:v>The Amazing Spider-Man</c:v>
                  </c:pt>
                  <c:pt idx="2">
                    <c:v>The Expendables</c:v>
                  </c:pt>
                  <c:pt idx="3">
                    <c:v>Moana</c:v>
                  </c:pt>
                  <c:pt idx="4">
                    <c:v>Trolls</c:v>
                  </c:pt>
                  <c:pt idx="5">
                    <c:v>Bean</c:v>
                  </c:pt>
                  <c:pt idx="6">
                    <c:v>The Smurfs</c:v>
                  </c:pt>
                  <c:pt idx="7">
                    <c:v>Hotel Transylvania</c:v>
                  </c:pt>
                  <c:pt idx="8">
                    <c:v>Cloudy/Meatballs</c:v>
                  </c:pt>
                  <c:pt idx="9">
                    <c:v>Man With Iron Fists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2961</c:v>
                </c:pt>
                <c:pt idx="1">
                  <c:v>1966</c:v>
                </c:pt>
                <c:pt idx="2">
                  <c:v>1961</c:v>
                </c:pt>
                <c:pt idx="3">
                  <c:v>1706</c:v>
                </c:pt>
                <c:pt idx="4">
                  <c:v>1601</c:v>
                </c:pt>
                <c:pt idx="5">
                  <c:v>1424</c:v>
                </c:pt>
                <c:pt idx="6">
                  <c:v>1342</c:v>
                </c:pt>
                <c:pt idx="7">
                  <c:v>1097</c:v>
                </c:pt>
                <c:pt idx="8">
                  <c:v>949</c:v>
                </c:pt>
                <c:pt idx="9">
                  <c:v>860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0204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02040"/>
                </a:solidFill>
                <a:latin typeface="Arial"/>
              </a:rPr>
              <a:t>توقع ساعات المشاهدة الأسبوعية (مايو–يونيو 2018)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إجمالي الساعات / أسبوع</c:v>
                </c:pt>
              </c:strCache>
            </c:strRef>
          </c:tx>
          <c:spPr>
            <a:solidFill>
              <a:srgbClr val="0096B7"/>
            </a:solidFill>
            <a:ln w="38100" cap="flat">
              <a:solidFill>
                <a:srgbClr val="0096B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96B7"/>
              </a:solidFill>
              <a:ln w="9525" cap="flat">
                <a:solidFill>
                  <a:srgbClr val="0096B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30 أبريل</c:v>
                  </c:pt>
                  <c:pt idx="1">
                    <c:v>7 مايو</c:v>
                  </c:pt>
                  <c:pt idx="2">
                    <c:v>14 مايو</c:v>
                  </c:pt>
                  <c:pt idx="3">
                    <c:v>21 مايو</c:v>
                  </c:pt>
                  <c:pt idx="4">
                    <c:v>28 مايو</c:v>
                  </c:pt>
                  <c:pt idx="5">
                    <c:v>4 يونيو</c:v>
                  </c:pt>
                  <c:pt idx="6">
                    <c:v>11 يونيو</c:v>
                  </c:pt>
                  <c:pt idx="7">
                    <c:v>18 يونيو</c:v>
                  </c:pt>
                  <c:pt idx="8">
                    <c:v>25 يونيو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2539</c:v>
                </c:pt>
                <c:pt idx="1">
                  <c:v>3114</c:v>
                </c:pt>
                <c:pt idx="2">
                  <c:v>3035</c:v>
                </c:pt>
                <c:pt idx="3">
                  <c:v>2955</c:v>
                </c:pt>
                <c:pt idx="4">
                  <c:v>2875</c:v>
                </c:pt>
                <c:pt idx="5">
                  <c:v>2795</c:v>
                </c:pt>
                <c:pt idx="6">
                  <c:v>2716</c:v>
                </c:pt>
                <c:pt idx="7">
                  <c:v>2636</c:v>
                </c:pt>
                <c:pt idx="8">
                  <c:v>2556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486400" cy="54864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 tv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قصة البيانات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رحلة تحليلية شاملة لسلوك المستخدمين، التوصيات الذكية، وتوقعات المشاهدة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2560320" cy="457200"/>
          </a:xfrm>
          <a:prstGeom prst="roundRect">
            <a:avLst>
              <a:gd name="adj" fmla="val 24000"/>
            </a:avLst>
          </a:prstGeom>
          <a:solidFill>
            <a:srgbClr val="00B4D8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 سلوك المستخدمين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3474720"/>
            <a:ext cx="2560320" cy="457200"/>
          </a:xfrm>
          <a:prstGeom prst="roundRect">
            <a:avLst>
              <a:gd name="adj" fmla="val 24000"/>
            </a:avLst>
          </a:prstGeom>
          <a:solidFill>
            <a:srgbClr val="00B4D8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التوصيات الذكي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3474720"/>
            <a:ext cx="2560320" cy="457200"/>
          </a:xfrm>
          <a:prstGeom prst="roundRect">
            <a:avLst>
              <a:gd name="adj" fmla="val 24000"/>
            </a:avLst>
          </a:prstGeom>
          <a:solidFill>
            <a:srgbClr val="00B4D8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التنبؤ بالمشاهدات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بيانات Jawwy Dataset  |  مسك / مهارات Skills  |  2017–2018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نقطة الانطلاق: ماذا نريد أن نفهم؟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35661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👥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هم مستخدمونا؟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كيف يشاهدون؟ ما الذي يفضلونه؟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الفرق بين مشاهدي الأفلام والمسلسلات؟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1234440"/>
            <a:ext cx="2651760" cy="35661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2148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ماذا نوصي لهم؟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91840" y="28346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كيف نبني نظام توصيات ذكياً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يستند لسلوك المستخدمين الفعلي؟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51760" cy="35661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📈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26480" y="2148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الذي ينتظرنا؟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28346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كم ساعة مشاهدة متوقعة؟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متى تكون الذروة؟ هل الاتجاه صاعد أم هابط؟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مليون+ سجل مشاهدة  |  11,578 مستخدم  |  8,013 برنامج  |  16 نوع محتوى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الفصل الأول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 سلوك المستخدمين: أفلام أم مسلسلات؟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102040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087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71.1%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ساعات المشاهدة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للمسلسلات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14600" y="141732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102040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5087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74.4%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06040" y="22860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المستخدمين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yشاهدون الأفلام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102040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5087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67.9%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22860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مشاهدات الأفلام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بجودة HD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12280" y="141732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102040"/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5087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03720" y="22860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مشاهدات المسلسلات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بجودة HD فقط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65760" y="3337560"/>
          <a:ext cx="411480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4754880" y="3246120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0" y="3337560"/>
            <a:ext cx="4023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الاستنتاج الرئيسي
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المسلسلات = تفاعل متكرر وساعات أطول</a:t>
            </a:r>
            <a:endParaRPr lang="en-US" sz="1200" dirty="0"/>
          </a:p>
          <a:p>
            <a:pPr rtl="1" algn="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الأفلام = جودة عالية وتجربة غامرة</a:t>
            </a:r>
            <a:endParaRPr lang="en-US" sz="1200" dirty="0"/>
          </a:p>
          <a:p>
            <a:pPr rtl="1" algn="r" indent="0" marL="0">
              <a:buNone/>
            </a:pPr>
            <a:endParaRPr lang="en-US" sz="1200" dirty="0"/>
          </a:p>
          <a:p>
            <a:pPr rtl="1" algn="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كلا النمطين يستحق استراتيجية محتوى مختلفة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20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أكثر 10 برامج مشاهدةً على stc tv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00584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309360" y="1051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766560" y="1051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Boss Baby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6656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2,961 ساعة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3,389 مستخدم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233172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0936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🎬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76656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كلها أفلام!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66560" y="2697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أعلى 10 برامج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كلها أفلام رسوم أو أكشن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36576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09360" y="3703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76656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Moana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766560" y="4023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1,706 ساعة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2,173 مستخدم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الفصل الثاني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التوصيات: "من أحب Moana سيحب..."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88720" y="1325880"/>
            <a:ext cx="1005840" cy="10058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258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جمع البيانات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440,237 تقييم فريد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11,578 مستخدم × 8,013 برنامج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691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023360" y="1325880"/>
            <a:ext cx="1005840" cy="10058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13258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0040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حساب التشابه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2834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بين كل زوج من البرامج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1691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858000" y="1325880"/>
            <a:ext cx="1005840" cy="10058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13258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3504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التوصية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2834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أعلى 5 برامج مشابهة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بناءً على سلوك المستخدمين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3429000"/>
            <a:ext cx="9144000" cy="1691640"/>
          </a:xfrm>
          <a:prstGeom prst="rect">
            <a:avLst/>
          </a:prstGeom>
          <a:solidFill>
            <a:srgbClr val="10204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474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أعلى 5 توصيات لمشاهدي فيلم "Moana" — كلها رسوم متحركة! 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84048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Trolls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3858768"/>
            <a:ext cx="502920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384048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08736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Surf's Up: WaveMania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4105656"/>
            <a:ext cx="4375404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7621524" y="408736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0.529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433425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Mermaid Princess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4352544"/>
            <a:ext cx="377190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7018020" y="433425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58114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Boss Baby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4599432"/>
            <a:ext cx="3118104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6364224" y="4581144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0.449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82803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Jetsons &amp; WWE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0" y="4846320"/>
            <a:ext cx="2967228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6213348" y="482803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0.439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الفصل الثالث — التنبؤ بالمشاهدات: ماذا ينتظرنا؟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102040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25,222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إجمالي الساعات المتوقعة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 الشهرين القادمين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23160" y="105156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0096B7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143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0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متوسط ساعات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المشاهدة / يوم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143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-9.8%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التغير عن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آخر 30 يوم فعلي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20840" y="105156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F4A261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143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الجمعة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66560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أعلى يوم مشاهدة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متوقع أسبوعياً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2743200"/>
          <a:ext cx="59436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6400800" y="274320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9224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أوقات الذروة المتوقعة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92240" y="3291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مايو (جمعة)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863840" y="3291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 ساعة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492240" y="3794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مايو (ثلاثاء)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863840" y="3794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642 ساعة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92240" y="42976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مايو (اثنين)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863840" y="4297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639 ساعة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92240" y="4663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الأربعاء هو الأدنى دائماً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الخلاصة والتوصيات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ثلاثة رؤى، ثلاثة قرارات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102040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🎭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استراتيجية المحتوى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المسلسلات تسيطر على الوقت الإجمالي — ركز على المحتوى المتسلسل لرفع معدل الاستمرارية. والأفلام للتجربة الممتازة بجودة HD.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102040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508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التوصيات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65176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نموذج التصفية التعاونية يعطي توصيات منطقية (كل توصيات Moana رسوم متحركة). ادمجه مع Content-Based لحل Cold Start.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102040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508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📅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2648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البث والصيانة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265176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الجمعة = ذروة المشاهدة ← خصص أعلى سعة للخوادم. الأربعاء/الخميس = أنسب وقت للصيانة. الاتجاه تنازلي ← فعّل حملات تسويقية.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البيانات لا تكذب — وهي تقول: محتوى أفضل، توصيات أذكى، توقيت مثالي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stc tv — قصة البيانات</dc:title>
  <dc:subject>PptxGenJS Presentation</dc:subject>
  <dc:creator>PptxGenJS</dc:creator>
  <cp:lastModifiedBy>PptxGenJS</cp:lastModifiedBy>
  <cp:revision>1</cp:revision>
  <dcterms:created xsi:type="dcterms:W3CDTF">2026-06-18T11:40:06Z</dcterms:created>
  <dcterms:modified xsi:type="dcterms:W3CDTF">2026-06-18T11:40:06Z</dcterms:modified>
</cp:coreProperties>
</file>